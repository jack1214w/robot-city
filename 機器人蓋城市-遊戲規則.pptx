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開場：先讓學生看螢幕上的地圖，說明今天每個人都是一台機器人。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強調：這就是寫程式和直接操作的差別——你要事先想好完整步驟。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讓學生練習念一次座標，之後討論路線會快很多。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第一輪可以帶著全班一起走一次完整回合。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這是整個活動的核心概念，值得停下來多講幾句。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提醒：轉彎不會前進，只是換方向；步數算錯是最常見的失誤。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可以現場示範一次放錯位置的後果，印象最深。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問學生：如果前面剛好被別人搶走了，這張卡會怎麼做？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紅卡數量少，抽到要想清楚什麼時機用，而且手上要留著橘卡。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囤在暫存卡上是新手最常犯的錯，記得提醒他們換掉。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這一頁決定學生的策略走向，講清楚再開始。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這頁可以在第一輪打完之後再回來講，學生比較有感覺。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按「規則」按鈕可以隨時叫出遊戲內的完整規則與卡片說明。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82880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400" kern="0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CITY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2743200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6F0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機器人蓋城市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365760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FBC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用程式指令，蓋出一座城市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41732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60" kern="0" dirty="0">
                <a:solidFill>
                  <a:srgbClr val="3DBF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遊戲規則說明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635240" y="160020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4402F"/>
          </a:solidFill>
          <a:ln w="12700">
            <a:solidFill>
              <a:srgbClr val="1E554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57032" y="160020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4402F"/>
          </a:solidFill>
          <a:ln w="12700">
            <a:solidFill>
              <a:srgbClr val="1E55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47740" y="1690908"/>
            <a:ext cx="385511" cy="385511"/>
          </a:xfrm>
          <a:prstGeom prst="roundRect">
            <a:avLst>
              <a:gd name="adj" fmla="val 21347"/>
            </a:avLst>
          </a:prstGeom>
          <a:solidFill>
            <a:srgbClr val="A97142"/>
          </a:solidFill>
          <a:ln/>
          <a:effectLst>
            <a:outerShdw sx="100000" sy="100000" kx="0" ky="0" algn="bl" rotWithShape="0" blurRad="127000" dist="25400" dir="5400000">
              <a:srgbClr val="000000">
                <a:alpha val="4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347740" y="1690908"/>
            <a:ext cx="385511" cy="385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木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878824" y="160020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4402F"/>
          </a:solidFill>
          <a:ln w="12700">
            <a:solidFill>
              <a:srgbClr val="1E554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500616" y="160020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091310"/>
          </a:solidFill>
          <a:ln w="12700">
            <a:solidFill>
              <a:srgbClr val="1E554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500616" y="1600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FB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RAM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0122408" y="160020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4402F"/>
          </a:solidFill>
          <a:ln w="12700">
            <a:solidFill>
              <a:srgbClr val="1E554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744200" y="160020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4402F"/>
          </a:solidFill>
          <a:ln w="12700">
            <a:solidFill>
              <a:srgbClr val="1E554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834908" y="1690908"/>
            <a:ext cx="385511" cy="385511"/>
          </a:xfrm>
          <a:prstGeom prst="roundRect">
            <a:avLst>
              <a:gd name="adj" fmla="val 21347"/>
            </a:avLst>
          </a:prstGeom>
          <a:solidFill>
            <a:srgbClr val="CFA945"/>
          </a:solidFill>
          <a:ln/>
          <a:effectLst>
            <a:outerShdw sx="100000" sy="100000" kx="0" ky="0" algn="bl" rotWithShape="0" blurRad="127000" dist="25400" dir="5400000">
              <a:srgbClr val="000000">
                <a:alpha val="4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10834908" y="1690908"/>
            <a:ext cx="385511" cy="385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沙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635240" y="2221992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4402F"/>
          </a:solidFill>
          <a:ln w="12700">
            <a:solidFill>
              <a:srgbClr val="1E554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25948" y="2312700"/>
            <a:ext cx="385511" cy="385511"/>
          </a:xfrm>
          <a:prstGeom prst="roundRect">
            <a:avLst>
              <a:gd name="adj" fmla="val 21347"/>
            </a:avLst>
          </a:prstGeom>
          <a:solidFill>
            <a:srgbClr val="5E7FA6"/>
          </a:solidFill>
          <a:ln/>
          <a:effectLst>
            <a:outerShdw sx="100000" sy="100000" kx="0" ky="0" algn="bl" rotWithShape="0" blurRad="127000" dist="25400" dir="5400000">
              <a:srgbClr val="000000">
                <a:alpha val="4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725948" y="2312700"/>
            <a:ext cx="385511" cy="385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鐵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57032" y="2221992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4402F"/>
          </a:solidFill>
          <a:ln w="12700">
            <a:solidFill>
              <a:srgbClr val="1E55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878824" y="2221992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95045"/>
          </a:solidFill>
          <a:ln w="12700">
            <a:solidFill>
              <a:srgbClr val="3DBFA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878824" y="22219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DBF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9500616" y="2221992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4402F"/>
          </a:solidFill>
          <a:ln w="12700">
            <a:solidFill>
              <a:srgbClr val="1E554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122408" y="2221992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4402F"/>
          </a:solidFill>
          <a:ln w="12700">
            <a:solidFill>
              <a:srgbClr val="1E554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213116" y="2312700"/>
            <a:ext cx="385511" cy="385511"/>
          </a:xfrm>
          <a:prstGeom prst="roundRect">
            <a:avLst>
              <a:gd name="adj" fmla="val 21347"/>
            </a:avLst>
          </a:prstGeom>
          <a:solidFill>
            <a:srgbClr val="7E8A93"/>
          </a:solidFill>
          <a:ln/>
          <a:effectLst>
            <a:outerShdw sx="100000" sy="100000" kx="0" ky="0" algn="bl" rotWithShape="0" blurRad="127000" dist="25400" dir="5400000">
              <a:srgbClr val="000000">
                <a:alpha val="40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10213116" y="2312700"/>
            <a:ext cx="385511" cy="385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石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0744200" y="2221992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4402F"/>
          </a:solidFill>
          <a:ln w="12700">
            <a:solidFill>
              <a:srgbClr val="1E554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35240" y="2843784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4402F"/>
          </a:solidFill>
          <a:ln w="12700">
            <a:solidFill>
              <a:srgbClr val="1E554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57032" y="2843784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4402F"/>
          </a:solidFill>
          <a:ln w="12700">
            <a:solidFill>
              <a:srgbClr val="D9A441"/>
            </a:solidFill>
            <a:prstDash val="dash"/>
          </a:ln>
        </p:spPr>
      </p:sp>
      <p:sp>
        <p:nvSpPr>
          <p:cNvPr id="30" name="Text 28"/>
          <p:cNvSpPr txBox="1"/>
          <p:nvPr/>
        </p:nvSpPr>
        <p:spPr>
          <a:xfrm>
            <a:off x="8257032" y="28437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A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CPU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8878824" y="2843784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4402F"/>
          </a:solidFill>
          <a:ln w="12700">
            <a:solidFill>
              <a:srgbClr val="1E554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500616" y="2843784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4402F"/>
          </a:solidFill>
          <a:ln w="12700">
            <a:solidFill>
              <a:srgbClr val="1E554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91324" y="2934492"/>
            <a:ext cx="385511" cy="385511"/>
          </a:xfrm>
          <a:prstGeom prst="roundRect">
            <a:avLst>
              <a:gd name="adj" fmla="val 21347"/>
            </a:avLst>
          </a:prstGeom>
          <a:solidFill>
            <a:srgbClr val="A97142"/>
          </a:solidFill>
          <a:ln/>
          <a:effectLst>
            <a:outerShdw sx="100000" sy="100000" kx="0" ky="0" algn="bl" rotWithShape="0" blurRad="127000" dist="25400" dir="5400000">
              <a:srgbClr val="000000">
                <a:alpha val="40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9591324" y="2934492"/>
            <a:ext cx="385511" cy="385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木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0122408" y="2843784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4402F"/>
          </a:solidFill>
          <a:ln w="12700">
            <a:solidFill>
              <a:srgbClr val="1E554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744200" y="2843784"/>
            <a:ext cx="566928" cy="566928"/>
          </a:xfrm>
          <a:prstGeom prst="roundRect">
            <a:avLst>
              <a:gd name="adj" fmla="val 9677"/>
            </a:avLst>
          </a:prstGeom>
          <a:solidFill>
            <a:srgbClr val="091310"/>
          </a:solidFill>
          <a:ln w="12700">
            <a:solidFill>
              <a:srgbClr val="1E554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0744200" y="28437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FB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635240" y="3465576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4402F"/>
          </a:solidFill>
          <a:ln w="12700">
            <a:solidFill>
              <a:srgbClr val="1E554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25948" y="3556284"/>
            <a:ext cx="385511" cy="385511"/>
          </a:xfrm>
          <a:prstGeom prst="roundRect">
            <a:avLst>
              <a:gd name="adj" fmla="val 21347"/>
            </a:avLst>
          </a:prstGeom>
          <a:solidFill>
            <a:srgbClr val="7E8A93"/>
          </a:solidFill>
          <a:ln/>
          <a:effectLst>
            <a:outerShdw sx="100000" sy="100000" kx="0" ky="0" algn="bl" rotWithShape="0" blurRad="127000" dist="25400" dir="5400000">
              <a:srgbClr val="000000">
                <a:alpha val="40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7725948" y="3556284"/>
            <a:ext cx="385511" cy="385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石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257032" y="3465576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4402F"/>
          </a:solidFill>
          <a:ln w="12700">
            <a:solidFill>
              <a:srgbClr val="1E554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878824" y="3465576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4402F"/>
          </a:solidFill>
          <a:ln w="12700">
            <a:solidFill>
              <a:srgbClr val="1E554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969532" y="3556284"/>
            <a:ext cx="385511" cy="385511"/>
          </a:xfrm>
          <a:prstGeom prst="roundRect">
            <a:avLst>
              <a:gd name="adj" fmla="val 21347"/>
            </a:avLst>
          </a:prstGeom>
          <a:solidFill>
            <a:srgbClr val="5E7FA6"/>
          </a:solidFill>
          <a:ln/>
          <a:effectLst>
            <a:outerShdw sx="100000" sy="100000" kx="0" ky="0" algn="bl" rotWithShape="0" blurRad="127000" dist="25400" dir="5400000">
              <a:srgbClr val="000000">
                <a:alpha val="40000"/>
              </a:srgbClr>
            </a:outerShdw>
          </a:effectLst>
        </p:spPr>
      </p:sp>
      <p:sp>
        <p:nvSpPr>
          <p:cNvPr id="44" name="Text 42"/>
          <p:cNvSpPr txBox="1"/>
          <p:nvPr/>
        </p:nvSpPr>
        <p:spPr>
          <a:xfrm>
            <a:off x="8969532" y="3556284"/>
            <a:ext cx="385511" cy="385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鐵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9500616" y="3465576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4402F"/>
          </a:solidFill>
          <a:ln w="12700">
            <a:solidFill>
              <a:srgbClr val="1E554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122408" y="3465576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4402F"/>
          </a:solidFill>
          <a:ln w="12700">
            <a:solidFill>
              <a:srgbClr val="1E554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173432" y="3516600"/>
            <a:ext cx="464881" cy="464881"/>
          </a:xfrm>
          <a:prstGeom prst="roundRect">
            <a:avLst>
              <a:gd name="adj" fmla="val 15736"/>
            </a:avLst>
          </a:prstGeom>
          <a:solidFill>
            <a:srgbClr val="E0564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40000"/>
              </a:srgbClr>
            </a:outerShdw>
          </a:effectLst>
        </p:spPr>
      </p:sp>
      <p:sp>
        <p:nvSpPr>
          <p:cNvPr id="48" name="Text 46"/>
          <p:cNvSpPr txBox="1"/>
          <p:nvPr/>
        </p:nvSpPr>
        <p:spPr>
          <a:xfrm>
            <a:off x="10122408" y="34655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10744200" y="3465576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4402F"/>
          </a:solidFill>
          <a:ln w="12700">
            <a:solidFill>
              <a:srgbClr val="1E554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635240" y="408736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4402F"/>
          </a:solidFill>
          <a:ln w="12700">
            <a:solidFill>
              <a:srgbClr val="1E554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257032" y="408736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091310"/>
          </a:solidFill>
          <a:ln w="12700">
            <a:solidFill>
              <a:srgbClr val="1E5546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8257032" y="40873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FB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ROM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8878824" y="408736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4402F"/>
          </a:solidFill>
          <a:ln w="12700">
            <a:solidFill>
              <a:srgbClr val="1E554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500616" y="408736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4402F"/>
          </a:solidFill>
          <a:ln w="12700">
            <a:solidFill>
              <a:srgbClr val="1E554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591324" y="4178076"/>
            <a:ext cx="385511" cy="385511"/>
          </a:xfrm>
          <a:prstGeom prst="roundRect">
            <a:avLst>
              <a:gd name="adj" fmla="val 21347"/>
            </a:avLst>
          </a:prstGeom>
          <a:solidFill>
            <a:srgbClr val="CFA945"/>
          </a:solidFill>
          <a:ln/>
          <a:effectLst>
            <a:outerShdw sx="100000" sy="100000" kx="0" ky="0" algn="bl" rotWithShape="0" blurRad="127000" dist="25400" dir="5400000">
              <a:srgbClr val="000000">
                <a:alpha val="40000"/>
              </a:srgbClr>
            </a:outerShdw>
          </a:effectLst>
        </p:spPr>
      </p:sp>
      <p:sp>
        <p:nvSpPr>
          <p:cNvPr id="56" name="Text 54"/>
          <p:cNvSpPr txBox="1"/>
          <p:nvPr/>
        </p:nvSpPr>
        <p:spPr>
          <a:xfrm>
            <a:off x="9591324" y="4178076"/>
            <a:ext cx="385511" cy="385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沙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10122408" y="408736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4402F"/>
          </a:solidFill>
          <a:ln w="12700">
            <a:solidFill>
              <a:srgbClr val="1E554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744200" y="408736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4402F"/>
          </a:solidFill>
          <a:ln w="12700">
            <a:solidFill>
              <a:srgbClr val="1E554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834908" y="4178076"/>
            <a:ext cx="385511" cy="385511"/>
          </a:xfrm>
          <a:prstGeom prst="roundRect">
            <a:avLst>
              <a:gd name="adj" fmla="val 21347"/>
            </a:avLst>
          </a:prstGeom>
          <a:solidFill>
            <a:srgbClr val="5E7FA6"/>
          </a:solidFill>
          <a:ln/>
          <a:effectLst>
            <a:outerShdw sx="100000" sy="100000" kx="0" ky="0" algn="bl" rotWithShape="0" blurRad="127000" dist="25400" dir="5400000">
              <a:srgbClr val="000000">
                <a:alpha val="40000"/>
              </a:srgbClr>
            </a:outerShdw>
          </a:effectLst>
        </p:spPr>
      </p:sp>
      <p:sp>
        <p:nvSpPr>
          <p:cNvPr id="60" name="Text 58"/>
          <p:cNvSpPr txBox="1"/>
          <p:nvPr/>
        </p:nvSpPr>
        <p:spPr>
          <a:xfrm>
            <a:off x="10834908" y="4178076"/>
            <a:ext cx="385511" cy="385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鐵</a:t>
            </a:r>
            <a:endParaRPr lang="en-US" sz="1200" dirty="0"/>
          </a:p>
        </p:txBody>
      </p:sp>
      <p:sp>
        <p:nvSpPr>
          <p:cNvPr id="61" name="Text 59"/>
          <p:cNvSpPr txBox="1"/>
          <p:nvPr/>
        </p:nvSpPr>
        <p:spPr>
          <a:xfrm>
            <a:off x="594360" y="5989320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BF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jack1214w.github.io/robot-city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2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D9A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GOAL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F0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你們是一群要蓋房子的機器人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3438144" cy="2606040"/>
          </a:xfrm>
          <a:prstGeom prst="roundRect">
            <a:avLst>
              <a:gd name="adj" fmla="val 4211"/>
            </a:avLst>
          </a:prstGeom>
          <a:solidFill>
            <a:srgbClr val="0E3328"/>
          </a:solidFill>
          <a:ln w="12700">
            <a:solidFill>
              <a:srgbClr val="1E55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6968" y="187452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D9A44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86968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32" b="1" dirty="0">
                <a:solidFill>
                  <a:srgbClr val="0721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32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929384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搶資源</a:t>
            </a:r>
            <a:endParaRPr lang="en-US" sz="2300" dirty="0"/>
          </a:p>
        </p:txBody>
      </p:sp>
      <p:sp>
        <p:nvSpPr>
          <p:cNvPr id="8" name="Text 6"/>
          <p:cNvSpPr txBox="1"/>
          <p:nvPr/>
        </p:nvSpPr>
        <p:spPr>
          <a:xfrm>
            <a:off x="886968" y="2651760"/>
            <a:ext cx="28529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E6F0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指揮機器人在地圖上移動，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E6F0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走過有資源的格子就自動撿走。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06824" y="1600200"/>
            <a:ext cx="3438144" cy="2606040"/>
          </a:xfrm>
          <a:prstGeom prst="roundRect">
            <a:avLst>
              <a:gd name="adj" fmla="val 4211"/>
            </a:avLst>
          </a:prstGeom>
          <a:solidFill>
            <a:srgbClr val="0E3328"/>
          </a:solidFill>
          <a:ln w="12700">
            <a:solidFill>
              <a:srgbClr val="1E554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99432" y="187452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D9A44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99432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32" b="1" dirty="0">
                <a:solidFill>
                  <a:srgbClr val="0721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232" dirty="0"/>
          </a:p>
        </p:txBody>
      </p:sp>
      <p:sp>
        <p:nvSpPr>
          <p:cNvPr id="12" name="Text 10"/>
          <p:cNvSpPr txBox="1"/>
          <p:nvPr/>
        </p:nvSpPr>
        <p:spPr>
          <a:xfrm>
            <a:off x="5312664" y="1929384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蓋建築</a:t>
            </a:r>
            <a:endParaRPr lang="en-US" sz="2300" dirty="0"/>
          </a:p>
        </p:txBody>
      </p:sp>
      <p:sp>
        <p:nvSpPr>
          <p:cNvPr id="13" name="Text 11"/>
          <p:cNvSpPr txBox="1"/>
          <p:nvPr/>
        </p:nvSpPr>
        <p:spPr>
          <a:xfrm>
            <a:off x="4599432" y="2651760"/>
            <a:ext cx="28529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E6F0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把資源放上任務卡，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E6F0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集滿指定的資源就蓋好了。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019288" y="1600200"/>
            <a:ext cx="3438144" cy="2606040"/>
          </a:xfrm>
          <a:prstGeom prst="roundRect">
            <a:avLst>
              <a:gd name="adj" fmla="val 4211"/>
            </a:avLst>
          </a:prstGeom>
          <a:solidFill>
            <a:srgbClr val="0E3328"/>
          </a:solidFill>
          <a:ln w="12700">
            <a:solidFill>
              <a:srgbClr val="1E554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11896" y="187452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D9A44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11896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32" b="1" dirty="0">
                <a:solidFill>
                  <a:srgbClr val="0721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232" dirty="0"/>
          </a:p>
        </p:txBody>
      </p:sp>
      <p:sp>
        <p:nvSpPr>
          <p:cNvPr id="17" name="Text 15"/>
          <p:cNvSpPr txBox="1"/>
          <p:nvPr/>
        </p:nvSpPr>
        <p:spPr>
          <a:xfrm>
            <a:off x="9025128" y="1929384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拿積分</a:t>
            </a:r>
            <a:endParaRPr lang="en-US" sz="2300" dirty="0"/>
          </a:p>
        </p:txBody>
      </p:sp>
      <p:sp>
        <p:nvSpPr>
          <p:cNvPr id="18" name="Text 16"/>
          <p:cNvSpPr txBox="1"/>
          <p:nvPr/>
        </p:nvSpPr>
        <p:spPr>
          <a:xfrm>
            <a:off x="8311896" y="2651760"/>
            <a:ext cx="28529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E6F0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每棟建築都有分數，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E6F0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遊戲結束時分數最高的人獲勝。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4526280"/>
            <a:ext cx="11000232" cy="1600200"/>
          </a:xfrm>
          <a:prstGeom prst="roundRect">
            <a:avLst>
              <a:gd name="adj" fmla="val 6857"/>
            </a:avLst>
          </a:prstGeom>
          <a:solidFill>
            <a:srgbClr val="14402F"/>
          </a:solidFill>
          <a:ln w="12700">
            <a:solidFill>
              <a:srgbClr val="1E554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23544" y="4864608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50" b="1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最重要的一件事：</a:t>
            </a:r>
            <a:pPr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E6F0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你不能直接用滑鼠把機器人拖到想去的地方。你只能「排好一串指令」，然後按執行，讓機器人自己跑完。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2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D9A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MAP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F0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地圖上有什麼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572768"/>
            <a:ext cx="5349240" cy="2743200"/>
          </a:xfrm>
          <a:prstGeom prst="roundRect">
            <a:avLst>
              <a:gd name="adj" fmla="val 4000"/>
            </a:avLst>
          </a:prstGeom>
          <a:solidFill>
            <a:srgbClr val="0E3328"/>
          </a:solidFill>
          <a:ln w="12700">
            <a:solidFill>
              <a:srgbClr val="1E554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05256" y="1783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四種資源　走過就撿走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60120" y="2331720"/>
            <a:ext cx="786384" cy="786384"/>
          </a:xfrm>
          <a:prstGeom prst="roundRect">
            <a:avLst>
              <a:gd name="adj" fmla="val 10465"/>
            </a:avLst>
          </a:prstGeom>
          <a:solidFill>
            <a:srgbClr val="A97142"/>
          </a:solidFill>
          <a:ln/>
          <a:effectLst>
            <a:outerShdw sx="100000" sy="100000" kx="0" ky="0" algn="bl" rotWithShape="0" blurRad="127000" dist="25400" dir="5400000">
              <a:srgbClr val="000000">
                <a:alpha val="4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60120" y="233172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木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218688"/>
            <a:ext cx="1152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6F0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木頭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203704" y="2331720"/>
            <a:ext cx="786384" cy="786384"/>
          </a:xfrm>
          <a:prstGeom prst="roundRect">
            <a:avLst>
              <a:gd name="adj" fmla="val 10465"/>
            </a:avLst>
          </a:prstGeom>
          <a:solidFill>
            <a:srgbClr val="5E7FA6"/>
          </a:solidFill>
          <a:ln/>
          <a:effectLst>
            <a:outerShdw sx="100000" sy="100000" kx="0" ky="0" algn="bl" rotWithShape="0" blurRad="127000" dist="25400" dir="5400000">
              <a:srgbClr val="000000">
                <a:alpha val="4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203704" y="233172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鐵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2020824" y="3218688"/>
            <a:ext cx="1152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6F0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鐵礦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447288" y="2331720"/>
            <a:ext cx="786384" cy="786384"/>
          </a:xfrm>
          <a:prstGeom prst="roundRect">
            <a:avLst>
              <a:gd name="adj" fmla="val 10465"/>
            </a:avLst>
          </a:prstGeom>
          <a:solidFill>
            <a:srgbClr val="7E8A93"/>
          </a:solidFill>
          <a:ln/>
          <a:effectLst>
            <a:outerShdw sx="100000" sy="100000" kx="0" ky="0" algn="bl" rotWithShape="0" blurRad="127000" dist="25400" dir="5400000">
              <a:srgbClr val="000000">
                <a:alpha val="4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3447288" y="233172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石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3264408" y="3218688"/>
            <a:ext cx="1152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6F0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石頭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90872" y="2331720"/>
            <a:ext cx="786384" cy="786384"/>
          </a:xfrm>
          <a:prstGeom prst="roundRect">
            <a:avLst>
              <a:gd name="adj" fmla="val 10465"/>
            </a:avLst>
          </a:prstGeom>
          <a:solidFill>
            <a:srgbClr val="CFA945"/>
          </a:solidFill>
          <a:ln/>
          <a:effectLst>
            <a:outerShdw sx="100000" sy="100000" kx="0" ky="0" algn="bl" rotWithShape="0" blurRad="127000" dist="25400" dir="5400000">
              <a:srgbClr val="000000">
                <a:alpha val="4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690872" y="233172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沙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4507992" y="3218688"/>
            <a:ext cx="1152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6F0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沙子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05256" y="36758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C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同一格只有一個資源，被拿走就沒了——手腳要快。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45352" y="1572768"/>
            <a:ext cx="5349240" cy="2743200"/>
          </a:xfrm>
          <a:prstGeom prst="roundRect">
            <a:avLst>
              <a:gd name="adj" fmla="val 4000"/>
            </a:avLst>
          </a:prstGeom>
          <a:solidFill>
            <a:srgbClr val="0E3328"/>
          </a:solidFill>
          <a:ln w="12700">
            <a:solidFill>
              <a:srgbClr val="1E554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56248" y="1783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三種特殊格子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556248" y="2286000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091310"/>
          </a:solidFill>
          <a:ln w="12700">
            <a:solidFill>
              <a:srgbClr val="1E554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56248" y="22860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FB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RAM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7214616" y="225856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F0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障礙物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8293608" y="2240280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FBC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RAM／BUS／ROM 不能通過，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FBC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撞上去就停在原地。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556248" y="2944368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195045"/>
          </a:solidFill>
          <a:ln w="12700">
            <a:solidFill>
              <a:srgbClr val="3DBFA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56248" y="29443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DBF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7214616" y="291693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F0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地道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8293608" y="2898648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FBC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踩到就傳送到下一個地道口，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FBC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出口有資源一樣會撿走。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556248" y="3602736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14402F"/>
          </a:solidFill>
          <a:ln w="12700">
            <a:solidFill>
              <a:srgbClr val="D9A441"/>
            </a:solidFill>
            <a:prstDash val="dash"/>
          </a:ln>
        </p:spPr>
      </p:sp>
      <p:sp>
        <p:nvSpPr>
          <p:cNvPr id="30" name="Text 28"/>
          <p:cNvSpPr txBox="1"/>
          <p:nvPr/>
        </p:nvSpPr>
        <p:spPr>
          <a:xfrm>
            <a:off x="6556248" y="36027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A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CPU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7214616" y="357530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F0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起始點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293608" y="3557016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FBC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機器人一開始站的地方。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94360" y="4526280"/>
            <a:ext cx="11000232" cy="1572768"/>
          </a:xfrm>
          <a:prstGeom prst="roundRect">
            <a:avLst>
              <a:gd name="adj" fmla="val 6977"/>
            </a:avLst>
          </a:prstGeom>
          <a:solidFill>
            <a:srgbClr val="14402F"/>
          </a:solidFill>
          <a:ln w="12700">
            <a:solidFill>
              <a:srgbClr val="1E554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23544" y="4709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BFA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每一格都有座標</a:t>
            </a:r>
            <a:endParaRPr lang="en-US" sz="1700" dirty="0"/>
          </a:p>
        </p:txBody>
      </p:sp>
      <p:sp>
        <p:nvSpPr>
          <p:cNvPr id="35" name="Text 33"/>
          <p:cNvSpPr txBox="1"/>
          <p:nvPr/>
        </p:nvSpPr>
        <p:spPr>
          <a:xfrm>
            <a:off x="923544" y="51206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6F0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橫的是英文字母、直的是數字。討論路線時直接說「機器人現在在 C4，要往 F4」，全組都聽得懂，比用手指螢幕快多了。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8686800" y="452628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9098280" y="452628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9509760" y="452628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9921240" y="452628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8394192" y="480060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686800" y="480060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4402F"/>
          </a:solidFill>
          <a:ln w="12700">
            <a:solidFill>
              <a:srgbClr val="1E554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098280" y="480060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4402F"/>
          </a:solidFill>
          <a:ln w="12700">
            <a:solidFill>
              <a:srgbClr val="1E554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509760" y="480060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4402F"/>
          </a:solidFill>
          <a:ln w="12700">
            <a:solidFill>
              <a:srgbClr val="1E554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921240" y="480060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4402F"/>
          </a:solidFill>
          <a:ln w="12700">
            <a:solidFill>
              <a:srgbClr val="1E5546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394192" y="521208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8686800" y="52120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4402F"/>
          </a:solidFill>
          <a:ln w="12700">
            <a:solidFill>
              <a:srgbClr val="1E554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098280" y="52120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4402F"/>
          </a:solidFill>
          <a:ln w="12700">
            <a:solidFill>
              <a:srgbClr val="1E554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509760" y="52120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4402F"/>
          </a:solidFill>
          <a:ln w="12700">
            <a:solidFill>
              <a:srgbClr val="1E554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542678" y="5244998"/>
            <a:ext cx="299923" cy="299923"/>
          </a:xfrm>
          <a:prstGeom prst="roundRect">
            <a:avLst>
              <a:gd name="adj" fmla="val 24390"/>
            </a:avLst>
          </a:prstGeom>
          <a:solidFill>
            <a:srgbClr val="2F8FD8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40000"/>
              </a:srgbClr>
            </a:outerShdw>
          </a:effectLst>
        </p:spPr>
      </p:sp>
      <p:sp>
        <p:nvSpPr>
          <p:cNvPr id="50" name="Text 48"/>
          <p:cNvSpPr txBox="1"/>
          <p:nvPr/>
        </p:nvSpPr>
        <p:spPr>
          <a:xfrm>
            <a:off x="9509760" y="5212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9921240" y="52120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4402F"/>
          </a:solidFill>
          <a:ln w="12700">
            <a:solidFill>
              <a:srgbClr val="1E5546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8394192" y="562356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8686800" y="562356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4402F"/>
          </a:solidFill>
          <a:ln w="12700">
            <a:solidFill>
              <a:srgbClr val="1E554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098280" y="562356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4402F"/>
          </a:solidFill>
          <a:ln w="12700">
            <a:solidFill>
              <a:srgbClr val="1E554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509760" y="562356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4402F"/>
          </a:solidFill>
          <a:ln w="12700">
            <a:solidFill>
              <a:srgbClr val="1E554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921240" y="562356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4402F"/>
          </a:solidFill>
          <a:ln w="12700">
            <a:solidFill>
              <a:srgbClr val="1E5546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10058400" y="60807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2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D9A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TURN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F0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輪到你的時候，做四件事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2542032" cy="3886200"/>
          </a:xfrm>
          <a:prstGeom prst="roundRect">
            <a:avLst>
              <a:gd name="adj" fmla="val 4317"/>
            </a:avLst>
          </a:prstGeom>
          <a:solidFill>
            <a:srgbClr val="0E3328"/>
          </a:solidFill>
          <a:ln w="12700">
            <a:solidFill>
              <a:srgbClr val="1E55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" y="1847088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D9A44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50392" y="18470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16" b="1" dirty="0">
                <a:solidFill>
                  <a:srgbClr val="0721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016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901952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排程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50392" y="2615184"/>
            <a:ext cx="204825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6F0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點下方手牌，把指令一張一張放進「程式區」。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6F0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由上往下就是執行順序，最多 6 張。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50392" y="4937760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BFA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放錯了可以點掉重放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200400" y="3291840"/>
            <a:ext cx="329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374136" y="1600200"/>
            <a:ext cx="2542032" cy="3886200"/>
          </a:xfrm>
          <a:prstGeom prst="roundRect">
            <a:avLst>
              <a:gd name="adj" fmla="val 4317"/>
            </a:avLst>
          </a:prstGeom>
          <a:solidFill>
            <a:srgbClr val="0E3328"/>
          </a:solidFill>
          <a:ln w="12700">
            <a:solidFill>
              <a:srgbClr val="1E554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30168" y="1847088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D9A44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30168" y="18470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16" b="1" dirty="0">
                <a:solidFill>
                  <a:srgbClr val="0721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016" dirty="0"/>
          </a:p>
        </p:txBody>
      </p:sp>
      <p:sp>
        <p:nvSpPr>
          <p:cNvPr id="14" name="Text 12"/>
          <p:cNvSpPr txBox="1"/>
          <p:nvPr/>
        </p:nvSpPr>
        <p:spPr>
          <a:xfrm>
            <a:off x="4288536" y="1901952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3630168" y="2615184"/>
            <a:ext cx="204825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6F0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按「執行 ▶」，機器人就照著你排的順序自己跑完。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6F0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中途不能改。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3630168" y="4937760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BFA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看執行紀錄逐行對照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980176" y="3291840"/>
            <a:ext cx="329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153912" y="1600200"/>
            <a:ext cx="2542032" cy="3886200"/>
          </a:xfrm>
          <a:prstGeom prst="roundRect">
            <a:avLst>
              <a:gd name="adj" fmla="val 4317"/>
            </a:avLst>
          </a:prstGeom>
          <a:solidFill>
            <a:srgbClr val="0E3328"/>
          </a:solidFill>
          <a:ln w="12700">
            <a:solidFill>
              <a:srgbClr val="1E554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9944" y="1847088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D9A44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9944" y="18470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16" b="1" dirty="0">
                <a:solidFill>
                  <a:srgbClr val="0721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016" dirty="0"/>
          </a:p>
        </p:txBody>
      </p:sp>
      <p:sp>
        <p:nvSpPr>
          <p:cNvPr id="21" name="Text 19"/>
          <p:cNvSpPr txBox="1"/>
          <p:nvPr/>
        </p:nvSpPr>
        <p:spPr>
          <a:xfrm>
            <a:off x="7068312" y="1901952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分配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6409944" y="2615184"/>
            <a:ext cx="204825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6F0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把撿到的資源放上任務卡，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6F0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或先丟到暫存卡。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409944" y="4937760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BFA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想清楚再放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759952" y="3291840"/>
            <a:ext cx="329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8933688" y="1600200"/>
            <a:ext cx="2542032" cy="3886200"/>
          </a:xfrm>
          <a:prstGeom prst="roundRect">
            <a:avLst>
              <a:gd name="adj" fmla="val 4317"/>
            </a:avLst>
          </a:prstGeom>
          <a:solidFill>
            <a:srgbClr val="0E3328"/>
          </a:solidFill>
          <a:ln w="12700">
            <a:solidFill>
              <a:srgbClr val="1E554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89720" y="1847088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D9A44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189720" y="18470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16" b="1" dirty="0">
                <a:solidFill>
                  <a:srgbClr val="0721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016" dirty="0"/>
          </a:p>
        </p:txBody>
      </p:sp>
      <p:sp>
        <p:nvSpPr>
          <p:cNvPr id="28" name="Text 26"/>
          <p:cNvSpPr txBox="1"/>
          <p:nvPr/>
        </p:nvSpPr>
        <p:spPr>
          <a:xfrm>
            <a:off x="9848088" y="1901952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整理</a:t>
            </a:r>
            <a:endParaRPr lang="en-US" sz="2200" dirty="0"/>
          </a:p>
        </p:txBody>
      </p:sp>
      <p:sp>
        <p:nvSpPr>
          <p:cNvPr id="29" name="Text 27"/>
          <p:cNvSpPr txBox="1"/>
          <p:nvPr/>
        </p:nvSpPr>
        <p:spPr>
          <a:xfrm>
            <a:off x="9189720" y="2615184"/>
            <a:ext cx="204825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6F0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可以 2 換 1、丟掉不要的手牌，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6F0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然後按「結束回合」換下一個人。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9189720" y="4937760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BFA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手牌會自動補滿 8 張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594360" y="5779008"/>
            <a:ext cx="11000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C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畫面最上方的橫幅會一直告訴你「現在輪到誰、可以做什麼」，忘記了就抬頭看一眼。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2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D9A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CARDS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F0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控制卡，就是程式指令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1975104" cy="2651760"/>
          </a:xfrm>
          <a:prstGeom prst="roundRect">
            <a:avLst>
              <a:gd name="adj" fmla="val 5556"/>
            </a:avLst>
          </a:prstGeom>
          <a:solidFill>
            <a:srgbClr val="F7F9F7"/>
          </a:solidFill>
          <a:ln/>
          <a:effectLst>
            <a:outerShdw sx="100000" sy="100000" kx="0" ky="0" algn="bl" rotWithShape="0" blurRad="127000" dist="25400" dir="54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22376" y="1764792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172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722376" y="201168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4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白色卡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22376" y="2487168"/>
            <a:ext cx="17190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724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循序結構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724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一行一行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724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照順序做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22376" y="391363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2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move(1)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807208" y="1645920"/>
            <a:ext cx="1975104" cy="2651760"/>
          </a:xfrm>
          <a:prstGeom prst="roundRect">
            <a:avLst>
              <a:gd name="adj" fmla="val 5556"/>
            </a:avLst>
          </a:prstGeom>
          <a:solidFill>
            <a:srgbClr val="EBC33F"/>
          </a:solidFill>
          <a:ln/>
          <a:effectLst>
            <a:outerShdw sx="100000" sy="100000" kx="0" ky="0" algn="bl" rotWithShape="0" blurRad="127000" dist="25400" dir="5400000">
              <a:srgbClr val="000000">
                <a:alpha val="4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935224" y="1764792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3A2B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2935224" y="201168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2B0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黃色卡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2935224" y="2487168"/>
            <a:ext cx="17190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2B0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重複結構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2B0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把幾張卡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2B0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重複跑幾次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935224" y="391363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2B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repeat(3)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0056" y="1645920"/>
            <a:ext cx="1975104" cy="2651760"/>
          </a:xfrm>
          <a:prstGeom prst="roundRect">
            <a:avLst>
              <a:gd name="adj" fmla="val 5556"/>
            </a:avLst>
          </a:prstGeom>
          <a:solidFill>
            <a:srgbClr val="2F9C6E"/>
          </a:solidFill>
          <a:ln/>
          <a:effectLst>
            <a:outerShdw sx="100000" sy="100000" kx="0" ky="0" algn="bl" rotWithShape="0" blurRad="127000" dist="25400" dir="5400000">
              <a:srgbClr val="000000">
                <a:alpha val="4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5148072" y="1764792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5148072" y="201168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綠色卡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5148072" y="2487168"/>
            <a:ext cx="17190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選擇結構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看情況決定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要做哪一件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148072" y="391363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if(...)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232904" y="1645920"/>
            <a:ext cx="1975104" cy="2651760"/>
          </a:xfrm>
          <a:prstGeom prst="roundRect">
            <a:avLst>
              <a:gd name="adj" fmla="val 5556"/>
            </a:avLst>
          </a:prstGeom>
          <a:solidFill>
            <a:srgbClr val="E4813A"/>
          </a:solidFill>
          <a:ln/>
          <a:effectLst>
            <a:outerShdw sx="100000" sy="100000" kx="0" ky="0" algn="bl" rotWithShape="0" blurRad="127000" dist="25400" dir="5400000">
              <a:srgbClr val="000000">
                <a:alpha val="4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360920" y="1764792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7360920" y="201168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橘色卡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7360920" y="2487168"/>
            <a:ext cx="17190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發動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夾住紅卡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才有效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360920" y="391363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call( … 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445752" y="1645920"/>
            <a:ext cx="1975104" cy="2651760"/>
          </a:xfrm>
          <a:prstGeom prst="roundRect">
            <a:avLst>
              <a:gd name="adj" fmla="val 5556"/>
            </a:avLst>
          </a:prstGeom>
          <a:solidFill>
            <a:srgbClr val="D24A44"/>
          </a:solidFill>
          <a:ln/>
          <a:effectLst>
            <a:outerShdw sx="100000" sy="100000" kx="0" ky="0" algn="bl" rotWithShape="0" blurRad="127000" dist="25400" dir="5400000">
              <a:srgbClr val="000000">
                <a:alpha val="40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9573768" y="1764792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FF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9573768" y="201168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0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紅色卡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9573768" y="2487168"/>
            <a:ext cx="17190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0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副程式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0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很強的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0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特殊能力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9573768" y="391363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boost()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94360" y="4590288"/>
            <a:ext cx="11000232" cy="1517904"/>
          </a:xfrm>
          <a:prstGeom prst="roundRect">
            <a:avLst>
              <a:gd name="adj" fmla="val 7229"/>
            </a:avLst>
          </a:prstGeom>
          <a:solidFill>
            <a:srgbClr val="14402F"/>
          </a:solidFill>
          <a:ln w="12700">
            <a:solidFill>
              <a:srgbClr val="1E554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23544" y="477316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真正的程式，就是由這四種結構組合出來的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923544" y="516636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6F0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不管多複雜的程式——遊戲、網站、機器人——拆開來看，都只是「照順序做」「重複做」「看情況做」「呼叫別人寫好的功能」這四件事在互相組合。今天你排的每一串指令，都是真的在寫程式。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2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D9A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SEQUENCE ／ 循序結構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F0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白色卡：一行一行，照順序做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1737360" cy="2103120"/>
          </a:xfrm>
          <a:prstGeom prst="roundRect">
            <a:avLst>
              <a:gd name="adj" fmla="val 6316"/>
            </a:avLst>
          </a:prstGeom>
          <a:solidFill>
            <a:srgbClr val="F7F9F7"/>
          </a:solidFill>
          <a:ln/>
          <a:effectLst>
            <a:outerShdw sx="100000" sy="100000" kx="0" ky="0" algn="bl" rotWithShape="0" blurRad="127000" dist="25400" dir="54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22376" y="1810512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172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722376" y="205740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4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前進 2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22376" y="2532888"/>
            <a:ext cx="1481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724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沿著面對方向走 2 格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22376" y="3410712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2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move(2)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14600" y="1691640"/>
            <a:ext cx="1737360" cy="2103120"/>
          </a:xfrm>
          <a:prstGeom prst="roundRect">
            <a:avLst>
              <a:gd name="adj" fmla="val 6316"/>
            </a:avLst>
          </a:prstGeom>
          <a:solidFill>
            <a:srgbClr val="F7F9F7"/>
          </a:solidFill>
          <a:ln/>
          <a:effectLst>
            <a:outerShdw sx="100000" sy="100000" kx="0" ky="0" algn="bl" rotWithShape="0" blurRad="127000" dist="25400" dir="5400000">
              <a:srgbClr val="000000">
                <a:alpha val="4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642616" y="1810512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172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2642616" y="205740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4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右轉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2642616" y="2532888"/>
            <a:ext cx="1481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724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原地向右轉 90°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642616" y="3410712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2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turn(90)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434840" y="1691640"/>
            <a:ext cx="1737360" cy="2103120"/>
          </a:xfrm>
          <a:prstGeom prst="roundRect">
            <a:avLst>
              <a:gd name="adj" fmla="val 6316"/>
            </a:avLst>
          </a:prstGeom>
          <a:solidFill>
            <a:srgbClr val="F7F9F7"/>
          </a:solidFill>
          <a:ln/>
          <a:effectLst>
            <a:outerShdw sx="100000" sy="100000" kx="0" ky="0" algn="bl" rotWithShape="0" blurRad="127000" dist="25400" dir="5400000">
              <a:srgbClr val="000000">
                <a:alpha val="4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4562856" y="1810512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172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4562856" y="205740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4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前進 1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4562856" y="2532888"/>
            <a:ext cx="1481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724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沿著面對方向走 1 格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562856" y="3410712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2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move(1)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594360" y="3950208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A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→ 02 → 03　機器人會完全照這個順序走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29400" y="1600200"/>
            <a:ext cx="4965192" cy="3931920"/>
          </a:xfrm>
          <a:prstGeom prst="roundRect">
            <a:avLst>
              <a:gd name="adj" fmla="val 2791"/>
            </a:avLst>
          </a:prstGeom>
          <a:solidFill>
            <a:srgbClr val="0E3328"/>
          </a:solidFill>
          <a:ln w="12700">
            <a:solidFill>
              <a:srgbClr val="1E554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949440" y="17830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機器人會這樣走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995160" y="233172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4402F"/>
          </a:solidFill>
          <a:ln w="12700">
            <a:solidFill>
              <a:srgbClr val="1E554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53900" y="2490460"/>
            <a:ext cx="249448" cy="249448"/>
          </a:xfrm>
          <a:prstGeom prst="roundRect">
            <a:avLst>
              <a:gd name="adj" fmla="val 18328"/>
            </a:avLst>
          </a:prstGeom>
          <a:solidFill>
            <a:srgbClr val="D9A441">
              <a:alpha val="4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7626096" y="233172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4402F"/>
          </a:solidFill>
          <a:ln w="12700">
            <a:solidFill>
              <a:srgbClr val="1E554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84836" y="2490460"/>
            <a:ext cx="249448" cy="249448"/>
          </a:xfrm>
          <a:prstGeom prst="roundRect">
            <a:avLst>
              <a:gd name="adj" fmla="val 18328"/>
            </a:avLst>
          </a:prstGeom>
          <a:solidFill>
            <a:srgbClr val="D9A441">
              <a:alpha val="4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8257032" y="233172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4402F"/>
          </a:solidFill>
          <a:ln w="12700">
            <a:solidFill>
              <a:srgbClr val="1E554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887968" y="233172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4402F"/>
          </a:solidFill>
          <a:ln w="12700">
            <a:solidFill>
              <a:srgbClr val="1E554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95160" y="2962656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4402F"/>
          </a:solidFill>
          <a:ln w="12700">
            <a:solidFill>
              <a:srgbClr val="1E554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53900" y="3121396"/>
            <a:ext cx="249448" cy="249448"/>
          </a:xfrm>
          <a:prstGeom prst="roundRect">
            <a:avLst>
              <a:gd name="adj" fmla="val 18328"/>
            </a:avLst>
          </a:prstGeom>
          <a:solidFill>
            <a:srgbClr val="D9A441">
              <a:alpha val="4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7626096" y="2962656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4402F"/>
          </a:solidFill>
          <a:ln w="12700">
            <a:solidFill>
              <a:srgbClr val="1E554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57032" y="2962656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4402F"/>
          </a:solidFill>
          <a:ln w="12700">
            <a:solidFill>
              <a:srgbClr val="1E554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887968" y="2962656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4402F"/>
          </a:solidFill>
          <a:ln w="12700">
            <a:solidFill>
              <a:srgbClr val="1E554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995160" y="3593592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4402F"/>
          </a:solidFill>
          <a:ln w="12700">
            <a:solidFill>
              <a:srgbClr val="1E554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046184" y="3644616"/>
            <a:ext cx="464881" cy="464881"/>
          </a:xfrm>
          <a:prstGeom prst="roundRect">
            <a:avLst>
              <a:gd name="adj" fmla="val 15736"/>
            </a:avLst>
          </a:prstGeom>
          <a:solidFill>
            <a:srgbClr val="E0564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40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6995160" y="35935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626096" y="3593592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4402F"/>
          </a:solidFill>
          <a:ln w="12700">
            <a:solidFill>
              <a:srgbClr val="1E554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57032" y="3593592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4402F"/>
          </a:solidFill>
          <a:ln w="12700">
            <a:solidFill>
              <a:srgbClr val="1E554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887968" y="3593592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4402F"/>
          </a:solidFill>
          <a:ln w="12700">
            <a:solidFill>
              <a:srgbClr val="1E554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995160" y="433425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F0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前進2（往上兩格）→ 右轉 → 前進1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6995160" y="468172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BFA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走過的每一格，只要有資源就會自動撿走。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594360" y="461772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E6F0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撞到 RAM、地圖邊界或其他機器人就會停下，後面的步數作廢。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2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D9A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 ／ 重複結構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F0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黃色卡：把接下來幾張，重複跑幾次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1828800" cy="2194560"/>
          </a:xfrm>
          <a:prstGeom prst="roundRect">
            <a:avLst>
              <a:gd name="adj" fmla="val 6000"/>
            </a:avLst>
          </a:prstGeom>
          <a:solidFill>
            <a:srgbClr val="EBC33F"/>
          </a:solidFill>
          <a:ln/>
          <a:effectLst>
            <a:outerShdw sx="100000" sy="100000" kx="0" ky="0" algn="bl" rotWithShape="0" blurRad="127000" dist="25400" dir="54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22376" y="1856232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3A2B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722376" y="210312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2B0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重複 ×3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22376" y="2578608"/>
            <a:ext cx="15727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2B0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接下來 1 張，跑 3 次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22376" y="354787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2B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repeat(3){1}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606040" y="1737360"/>
            <a:ext cx="1828800" cy="2194560"/>
          </a:xfrm>
          <a:prstGeom prst="roundRect">
            <a:avLst>
              <a:gd name="adj" fmla="val 6000"/>
            </a:avLst>
          </a:prstGeom>
          <a:solidFill>
            <a:srgbClr val="F7F9F7"/>
          </a:solidFill>
          <a:ln/>
          <a:effectLst>
            <a:outerShdw sx="100000" sy="100000" kx="0" ky="0" algn="bl" rotWithShape="0" blurRad="127000" dist="25400" dir="5400000">
              <a:srgbClr val="000000">
                <a:alpha val="4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734056" y="1856232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172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2734056" y="210312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4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前進 1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2734056" y="2578608"/>
            <a:ext cx="15727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724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沿著面對方向走 1 格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734056" y="354787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2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move(1)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4636008" y="2606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＝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5303520" y="1737360"/>
            <a:ext cx="1335024" cy="2194560"/>
          </a:xfrm>
          <a:prstGeom prst="roundRect">
            <a:avLst>
              <a:gd name="adj" fmla="val 8219"/>
            </a:avLst>
          </a:prstGeom>
          <a:solidFill>
            <a:srgbClr val="F7F9F7"/>
          </a:solidFill>
          <a:ln/>
          <a:effectLst>
            <a:outerShdw sx="100000" sy="100000" kx="0" ky="0" algn="bl" rotWithShape="0" blurRad="127000" dist="25400" dir="5400000">
              <a:srgbClr val="000000">
                <a:alpha val="4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5431536" y="185623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172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5431536" y="2103120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4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前進 1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5431536" y="3547872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2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move(1)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784848" y="1737360"/>
            <a:ext cx="1335024" cy="2194560"/>
          </a:xfrm>
          <a:prstGeom prst="roundRect">
            <a:avLst>
              <a:gd name="adj" fmla="val 8219"/>
            </a:avLst>
          </a:prstGeom>
          <a:solidFill>
            <a:srgbClr val="F7F9F7"/>
          </a:solidFill>
          <a:ln/>
          <a:effectLst>
            <a:outerShdw sx="100000" sy="100000" kx="0" ky="0" algn="bl" rotWithShape="0" blurRad="127000" dist="25400" dir="5400000">
              <a:srgbClr val="000000">
                <a:alpha val="4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912864" y="185623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172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912864" y="2103120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4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前進 1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912864" y="3547872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2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move(1)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266176" y="1737360"/>
            <a:ext cx="1335024" cy="2194560"/>
          </a:xfrm>
          <a:prstGeom prst="roundRect">
            <a:avLst>
              <a:gd name="adj" fmla="val 8219"/>
            </a:avLst>
          </a:prstGeom>
          <a:solidFill>
            <a:srgbClr val="F7F9F7"/>
          </a:solidFill>
          <a:ln/>
          <a:effectLst>
            <a:outerShdw sx="100000" sy="100000" kx="0" ky="0" algn="bl" rotWithShape="0" blurRad="127000" dist="25400" dir="5400000">
              <a:srgbClr val="000000">
                <a:alpha val="40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8394192" y="185623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172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8394192" y="2103120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4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前進 1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8394192" y="3547872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2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move(1)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303520" y="406908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兩張卡，做到三張卡的事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94360" y="4572000"/>
            <a:ext cx="5349240" cy="1554480"/>
          </a:xfrm>
          <a:prstGeom prst="roundRect">
            <a:avLst>
              <a:gd name="adj" fmla="val 7059"/>
            </a:avLst>
          </a:prstGeom>
          <a:solidFill>
            <a:srgbClr val="14402F"/>
          </a:solidFill>
          <a:ln w="12700">
            <a:solidFill>
              <a:srgbClr val="1E554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05256" y="475488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BFA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為什麼要用迴圈？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905256" y="512064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F0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你一回合最多只能出 6 張卡。用迴圈可以把「6 格」壓縮成 2 張卡，剩下的格子拿來做別的事。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245352" y="4572000"/>
            <a:ext cx="5349240" cy="1554480"/>
          </a:xfrm>
          <a:prstGeom prst="roundRect">
            <a:avLst>
              <a:gd name="adj" fmla="val 7059"/>
            </a:avLst>
          </a:prstGeom>
          <a:solidFill>
            <a:srgbClr val="14402F"/>
          </a:solidFill>
          <a:ln w="12700">
            <a:solidFill>
              <a:srgbClr val="1E554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556248" y="475488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6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要小心的地方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6556248" y="512064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F0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黃卡上寫「接下來幾張」就是包住幾張。放錯位置，包到的就會是不同的卡，機器人會跑去完全不同的地方。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2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D9A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SELECTION ／ 選擇結構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F0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綠色卡：看情況，決定要做哪一件事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2148840" cy="2286000"/>
          </a:xfrm>
          <a:prstGeom prst="roundRect">
            <a:avLst>
              <a:gd name="adj" fmla="val 5106"/>
            </a:avLst>
          </a:prstGeom>
          <a:solidFill>
            <a:srgbClr val="2F9C6E"/>
          </a:solidFill>
          <a:ln/>
          <a:effectLst>
            <a:outerShdw sx="100000" sy="100000" kx="0" ky="0" algn="bl" rotWithShape="0" blurRad="127000" dist="25400" dir="54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22376" y="1856232"/>
            <a:ext cx="1892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722376" y="2103120"/>
            <a:ext cx="189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前方有資源？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22376" y="2578608"/>
            <a:ext cx="18928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 → 前進 1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否 → 右轉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22376" y="3639312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if(hasItem)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420624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FBC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執行到這張卡的瞬間，機器人才會去看前面那一格。答案不是你決定的，是地圖決定的。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91840" y="2148840"/>
            <a:ext cx="1280160" cy="566928"/>
          </a:xfrm>
          <a:prstGeom prst="roundRect">
            <a:avLst>
              <a:gd name="adj" fmla="val 50000"/>
            </a:avLst>
          </a:prstGeom>
          <a:solidFill>
            <a:srgbClr val="3DBFA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291840" y="214884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21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24028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120640" y="1737360"/>
            <a:ext cx="1554480" cy="1417320"/>
          </a:xfrm>
          <a:prstGeom prst="roundRect">
            <a:avLst>
              <a:gd name="adj" fmla="val 7742"/>
            </a:avLst>
          </a:prstGeom>
          <a:solidFill>
            <a:srgbClr val="F7F9F7"/>
          </a:solidFill>
          <a:ln/>
          <a:effectLst>
            <a:outerShdw sx="100000" sy="100000" kx="0" ky="0" algn="bl" rotWithShape="0" blurRad="127000" dist="25400" dir="5400000">
              <a:srgbClr val="000000">
                <a:alpha val="4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248656" y="1856232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172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5248656" y="210312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4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前進 1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248656" y="2770632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2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move(1)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91840" y="3749040"/>
            <a:ext cx="1280160" cy="566928"/>
          </a:xfrm>
          <a:prstGeom prst="roundRect">
            <a:avLst>
              <a:gd name="adj" fmla="val 50000"/>
            </a:avLst>
          </a:prstGeom>
          <a:solidFill>
            <a:srgbClr val="E4655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291840" y="374904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否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4663440" y="384048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120640" y="3337560"/>
            <a:ext cx="1554480" cy="1417320"/>
          </a:xfrm>
          <a:prstGeom prst="roundRect">
            <a:avLst>
              <a:gd name="adj" fmla="val 7742"/>
            </a:avLst>
          </a:prstGeom>
          <a:solidFill>
            <a:srgbClr val="F7F9F7"/>
          </a:solidFill>
          <a:ln/>
          <a:effectLst>
            <a:outerShdw sx="100000" sy="100000" kx="0" ky="0" algn="bl" rotWithShape="0" blurRad="127000" dist="25400" dir="5400000">
              <a:srgbClr val="000000">
                <a:alpha val="4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5248656" y="3456432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172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5248656" y="370332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4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右轉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5248656" y="4370832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2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turn(90)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040880" y="1691640"/>
            <a:ext cx="4553712" cy="4023360"/>
          </a:xfrm>
          <a:prstGeom prst="roundRect">
            <a:avLst>
              <a:gd name="adj" fmla="val 2727"/>
            </a:avLst>
          </a:prstGeom>
          <a:solidFill>
            <a:srgbClr val="0E3328"/>
          </a:solidFill>
          <a:ln w="12700">
            <a:solidFill>
              <a:srgbClr val="1E554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33488" y="19202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厲害在哪裡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7333488" y="2450592"/>
            <a:ext cx="3968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6F0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白卡是「不管怎樣都往前走」。綠卡是「有東西才走，沒東西就轉彎」。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333488" y="3246120"/>
            <a:ext cx="3968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6F0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同一張綠卡，放在地圖上不同的位置，會做出完全不同的事——這就是程式能「自己判斷」的原因。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7333488" y="4343400"/>
            <a:ext cx="3968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BFA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所以綠卡不用算得很精準，反而適合放在你也不確定前面有什麼的時候。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2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D9A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／ 呼叫副程式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F0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橘卡＋紅卡：紅卡要被夾住才有效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1600200" cy="1783080"/>
          </a:xfrm>
          <a:prstGeom prst="roundRect">
            <a:avLst>
              <a:gd name="adj" fmla="val 6857"/>
            </a:avLst>
          </a:prstGeom>
          <a:solidFill>
            <a:srgbClr val="E4813A"/>
          </a:solidFill>
          <a:ln/>
          <a:effectLst>
            <a:outerShdw sx="100000" sy="100000" kx="0" ky="0" algn="bl" rotWithShape="0" blurRad="127000" dist="25400" dir="54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22376" y="1810512"/>
            <a:ext cx="1344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722376" y="2057400"/>
            <a:ext cx="1344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發動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22376" y="3090672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call(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377440" y="1691640"/>
            <a:ext cx="1600200" cy="1783080"/>
          </a:xfrm>
          <a:prstGeom prst="roundRect">
            <a:avLst>
              <a:gd name="adj" fmla="val 6857"/>
            </a:avLst>
          </a:prstGeom>
          <a:solidFill>
            <a:srgbClr val="D24A44"/>
          </a:solidFill>
          <a:ln/>
          <a:effectLst>
            <a:outerShdw sx="100000" sy="100000" kx="0" ky="0" algn="bl" rotWithShape="0" blurRad="127000" dist="25400" dir="5400000">
              <a:srgbClr val="000000">
                <a:alpha val="4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505456" y="1810512"/>
            <a:ext cx="1344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FF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2505456" y="2057400"/>
            <a:ext cx="1344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0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磁鐵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2505456" y="2532888"/>
            <a:ext cx="134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0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吸走四周的資源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505456" y="3090672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magnet()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60520" y="1691640"/>
            <a:ext cx="1600200" cy="1783080"/>
          </a:xfrm>
          <a:prstGeom prst="roundRect">
            <a:avLst>
              <a:gd name="adj" fmla="val 6857"/>
            </a:avLst>
          </a:prstGeom>
          <a:solidFill>
            <a:srgbClr val="E4813A"/>
          </a:solidFill>
          <a:ln/>
          <a:effectLst>
            <a:outerShdw sx="100000" sy="100000" kx="0" ky="0" algn="bl" rotWithShape="0" blurRad="127000" dist="25400" dir="5400000">
              <a:srgbClr val="000000">
                <a:alpha val="4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288536" y="1810512"/>
            <a:ext cx="1344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4288536" y="2057400"/>
            <a:ext cx="1344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發動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288536" y="3090672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94360" y="3639312"/>
            <a:ext cx="5166360" cy="457200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94360" y="363931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21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　→　紅　→　橘　才會生效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" y="4279392"/>
            <a:ext cx="5166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6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排錯順序，紅卡就直接失效——卡浪費掉，機器人什麼都不會做。上方的橫幅會先提醒你。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245352" y="169164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0E3328"/>
          </a:solidFill>
          <a:ln w="12700">
            <a:solidFill>
              <a:srgbClr val="1E554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56248" y="1874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五種特殊能力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556248" y="23774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D24A4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976872" y="2340864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F0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專車接送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8567928" y="2359152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C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瞬間移動到地圖上任何一個空格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556248" y="304495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D24A4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976872" y="3008376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F0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加速器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567928" y="3026664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C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直線衝刺，最多前進 4 格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556248" y="3712464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D24A4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976872" y="3675888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F0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磁鐵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8567928" y="3694176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C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把上下左右四格的資源全部吸走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556248" y="437997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D24A44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976872" y="434340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F0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交換卡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567928" y="4361688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C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和任何一位玩家交換位置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556248" y="504748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D24A44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976872" y="5010912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F0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病毒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8567928" y="5029200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C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偷走別人已經收集到的 1 個資源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2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D9A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ORDERS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F0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蓋房子：任務卡怎麼看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3931920" cy="3200400"/>
          </a:xfrm>
          <a:prstGeom prst="roundRect">
            <a:avLst>
              <a:gd name="adj" fmla="val 3429"/>
            </a:avLst>
          </a:prstGeom>
          <a:solidFill>
            <a:srgbClr val="14402F"/>
          </a:solidFill>
          <a:ln w="12700">
            <a:solidFill>
              <a:srgbClr val="1E554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05256" y="1874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F0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車站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2971800" y="1938528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分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05256" y="24505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C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需要的資源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05256" y="274320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5E7FA6"/>
          </a:solidFill>
          <a:ln/>
          <a:effectLst>
            <a:outerShdw sx="100000" sy="100000" kx="0" ky="0" algn="bl" rotWithShape="0" blurRad="127000" dist="25400" dir="5400000">
              <a:srgbClr val="000000">
                <a:alpha val="4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905256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鐵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527048" y="274320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07211A">
              <a:alpha val="0"/>
            </a:srgbClr>
          </a:solidFill>
          <a:ln w="19050">
            <a:solidFill>
              <a:srgbClr val="5E7FA6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1527048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E7FA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鐵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148840" y="274320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07211A">
              <a:alpha val="0"/>
            </a:srgbClr>
          </a:solidFill>
          <a:ln w="19050">
            <a:solidFill>
              <a:srgbClr val="7E8A93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2148840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E8A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石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880360" y="285292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還缺 2 個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905256" y="3520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C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實心 </a:t>
            </a:r>
            <a:pPr indent="0" marL="0">
              <a:buNone/>
            </a:pPr>
            <a:r>
              <a:rPr lang="en-US" sz="1350" b="1" dirty="0">
                <a:solidFill>
                  <a:srgbClr val="E6F0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＝已經收集到　</a:t>
            </a:r>
            <a:pPr indent="0" marL="0">
              <a:buNone/>
            </a:pPr>
            <a:r>
              <a:rPr lang="en-US" sz="1350" dirty="0">
                <a:solidFill>
                  <a:srgbClr val="9FBC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虛線空心 </a:t>
            </a:r>
            <a:pPr indent="0" marL="0">
              <a:buNone/>
            </a:pPr>
            <a:r>
              <a:rPr lang="en-US" sz="1350" b="1" dirty="0">
                <a:solidFill>
                  <a:srgbClr val="E6F0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＝還沒拿到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905256" y="39776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DBFA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集滿就立刻得分，並馬上補一張新的任務卡。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029200" y="1645920"/>
            <a:ext cx="6565392" cy="3200400"/>
          </a:xfrm>
          <a:prstGeom prst="roundRect">
            <a:avLst>
              <a:gd name="adj" fmla="val 3429"/>
            </a:avLst>
          </a:prstGeom>
          <a:solidFill>
            <a:srgbClr val="0E3328"/>
          </a:solidFill>
          <a:ln w="12700">
            <a:solidFill>
              <a:srgbClr val="1E554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358384" y="187452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每個人同時有 2～3 張任務卡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358384" y="2414016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3DBFA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760720" y="2359152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F0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先看再走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498080" y="235915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FBC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出牌前先看任務卡缺什麼，再決定機器人要往哪走。不要先走了才想。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358384" y="3191256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3DBFA5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760720" y="3136392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F0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看得到別人的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498080" y="313639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FBC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點計分板上任何一個人，就能看他的任務卡。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358384" y="3968496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3DBFA5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760720" y="3913632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F0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「還差 N」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498080" y="391363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FBC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計分板上的數字，是那個人最接近完成的一張還缺幾個資源。數字愈小愈危險。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94360" y="5074920"/>
            <a:ext cx="11000232" cy="1078992"/>
          </a:xfrm>
          <a:prstGeom prst="roundRect">
            <a:avLst>
              <a:gd name="adj" fmla="val 10169"/>
            </a:avLst>
          </a:prstGeom>
          <a:solidFill>
            <a:srgbClr val="14402F"/>
          </a:solidFill>
          <a:ln w="12700">
            <a:solidFill>
              <a:srgbClr val="1E554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23544" y="5285232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E46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暫存卡：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6F0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用不到的資源可以先放這裡，集滿 2 個可以跟資源庫「2 換 1」換成你要的。但是——</a:t>
            </a:r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E46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結算時暫存卡上的資源一分都不算。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2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D9A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F0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怎麼結束？怎麼算分？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5349240" cy="2148840"/>
          </a:xfrm>
          <a:prstGeom prst="roundRect">
            <a:avLst>
              <a:gd name="adj" fmla="val 5106"/>
            </a:avLst>
          </a:prstGeom>
          <a:solidFill>
            <a:srgbClr val="0E3328"/>
          </a:solidFill>
          <a:ln w="12700">
            <a:solidFill>
              <a:srgbClr val="1E554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05256" y="184708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兩種結束方式（開場老師會宣布）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23544" y="233172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3DBFA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23544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12" b="1" dirty="0">
                <a:solidFill>
                  <a:srgbClr val="0721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12" dirty="0"/>
          </a:p>
        </p:txBody>
      </p:sp>
      <p:sp>
        <p:nvSpPr>
          <p:cNvPr id="8" name="Text 6"/>
          <p:cNvSpPr txBox="1"/>
          <p:nvPr/>
        </p:nvSpPr>
        <p:spPr>
          <a:xfrm>
            <a:off x="1453896" y="23134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F0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積分達標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880360" y="2331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C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有人先達到目標分數，遊戲立刻結束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23544" y="2990088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3DBFA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23544" y="2990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12" b="1" dirty="0">
                <a:solidFill>
                  <a:srgbClr val="0721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512" dirty="0"/>
          </a:p>
        </p:txBody>
      </p:sp>
      <p:sp>
        <p:nvSpPr>
          <p:cNvPr id="12" name="Text 10"/>
          <p:cNvSpPr txBox="1"/>
          <p:nvPr/>
        </p:nvSpPr>
        <p:spPr>
          <a:xfrm>
            <a:off x="1453896" y="29718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F0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資源搶光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880360" y="299008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C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地圖上的資源全部被採完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45352" y="1645920"/>
            <a:ext cx="5349240" cy="3977640"/>
          </a:xfrm>
          <a:prstGeom prst="roundRect">
            <a:avLst>
              <a:gd name="adj" fmla="val 2759"/>
            </a:avLst>
          </a:prstGeom>
          <a:solidFill>
            <a:srgbClr val="0E3328"/>
          </a:solidFill>
          <a:ln w="12700">
            <a:solidFill>
              <a:srgbClr val="1E554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56248" y="184708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結算：三種東西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556248" y="2377440"/>
            <a:ext cx="4727448" cy="868680"/>
          </a:xfrm>
          <a:prstGeom prst="roundRect">
            <a:avLst>
              <a:gd name="adj" fmla="val 10526"/>
            </a:avLst>
          </a:prstGeom>
          <a:solidFill>
            <a:srgbClr val="14402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30568" y="248716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已完成的建築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6830568" y="283464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F0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拿任務卡上的完整分數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556248" y="3429000"/>
            <a:ext cx="4727448" cy="868680"/>
          </a:xfrm>
          <a:prstGeom prst="roundRect">
            <a:avLst>
              <a:gd name="adj" fmla="val 10526"/>
            </a:avLst>
          </a:prstGeom>
          <a:solidFill>
            <a:srgbClr val="14402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30568" y="353872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DBFA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未完成的任務卡</a:t>
            </a:r>
            <a:endParaRPr lang="en-US" sz="1550" dirty="0"/>
          </a:p>
        </p:txBody>
      </p:sp>
      <p:sp>
        <p:nvSpPr>
          <p:cNvPr id="21" name="Text 19"/>
          <p:cNvSpPr txBox="1"/>
          <p:nvPr/>
        </p:nvSpPr>
        <p:spPr>
          <a:xfrm>
            <a:off x="6830568" y="388620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F0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上面每個已收集的資源算 1 分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556248" y="4480560"/>
            <a:ext cx="4727448" cy="868680"/>
          </a:xfrm>
          <a:prstGeom prst="roundRect">
            <a:avLst>
              <a:gd name="adj" fmla="val 10526"/>
            </a:avLst>
          </a:prstGeom>
          <a:solidFill>
            <a:srgbClr val="14402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30568" y="459028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46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暫存卡上的資源</a:t>
            </a:r>
            <a:endParaRPr lang="en-US" sz="1550" dirty="0"/>
          </a:p>
        </p:txBody>
      </p:sp>
      <p:sp>
        <p:nvSpPr>
          <p:cNvPr id="24" name="Text 22"/>
          <p:cNvSpPr txBox="1"/>
          <p:nvPr/>
        </p:nvSpPr>
        <p:spPr>
          <a:xfrm>
            <a:off x="6830568" y="493776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F0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一分都不算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94360" y="4114800"/>
            <a:ext cx="5349240" cy="1508760"/>
          </a:xfrm>
          <a:prstGeom prst="roundRect">
            <a:avLst>
              <a:gd name="adj" fmla="val 7273"/>
            </a:avLst>
          </a:prstGeom>
          <a:solidFill>
            <a:srgbClr val="14402F"/>
          </a:solidFill>
          <a:ln w="12700">
            <a:solidFill>
              <a:srgbClr val="1E554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05256" y="427939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BFA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蓋不完也有分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905256" y="4645152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F0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時間到還沒蓋完不用難過——放在任務卡上的資源，每一個都還是 1 分。所以「一直把資源放上任務卡」永遠不吃虧。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2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D9A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TACTICS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F0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想贏的話，記住這四件事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0E3328"/>
          </a:solidFill>
          <a:ln w="12700">
            <a:solidFill>
              <a:srgbClr val="1E55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5256" y="193852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D9A44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05256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21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956816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先想完，再出牌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905256" y="2606040"/>
            <a:ext cx="4727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6F0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機器人一旦開始跑就停不下來。出牌前先在心裡走一遍，數清楚要走幾格、往哪轉。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45352" y="1645920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0E3328"/>
          </a:solidFill>
          <a:ln w="12700">
            <a:solidFill>
              <a:srgbClr val="1E554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56248" y="193852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D9A44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56248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21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159752" y="1956816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迴圈省下來的格子最值錢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556248" y="2606040"/>
            <a:ext cx="4727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6F0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一回合只有 6 格。用黃卡把長距離壓縮，多出來的格子拿去撿更多資源。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4360" y="3886200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0E3328"/>
          </a:solidFill>
          <a:ln w="12700">
            <a:solidFill>
              <a:srgbClr val="1E554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05256" y="417880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D9A44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05256" y="4178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21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197096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資源要放任務卡，不要囤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905256" y="4846320"/>
            <a:ext cx="4727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6F0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暫存卡結算不計分。手上有 2 個用不到的，就趕快 2 換 1 換成需要的。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45352" y="3886200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0E3328"/>
          </a:solidFill>
          <a:ln w="12700">
            <a:solidFill>
              <a:srgbClr val="1E554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56248" y="417880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D9A44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56248" y="4178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21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159752" y="4197096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抬頭看別人的「還差 N」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6556248" y="4846320"/>
            <a:ext cx="4727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6F0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數字快變成 0 的人隨時會得分。必要時用紅卡去搶、去換位置擋路。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94360" y="5989320"/>
            <a:ext cx="11000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C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看不清楚？畫面上每個面板右上角的「－」可以收起來，地圖會自動變大。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2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1031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6F0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準備好了嗎？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06324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FBC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挑一台機器人，決定一開始面對的方向，然後開始蓋你的城市。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94360" y="3977640"/>
            <a:ext cx="5852160" cy="777240"/>
          </a:xfrm>
          <a:prstGeom prst="roundRect">
            <a:avLst>
              <a:gd name="adj" fmla="val 14118"/>
            </a:avLst>
          </a:prstGeom>
          <a:solidFill>
            <a:srgbClr val="0E3328"/>
          </a:solidFill>
          <a:ln w="19050">
            <a:solidFill>
              <a:srgbClr val="D9A44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3977640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9A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jack1214w.github.io/robot-city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913218" y="2426818"/>
            <a:ext cx="449885" cy="449885"/>
          </a:xfrm>
          <a:prstGeom prst="roundRect">
            <a:avLst>
              <a:gd name="adj" fmla="val 16260"/>
            </a:avLst>
          </a:prstGeom>
          <a:solidFill>
            <a:srgbClr val="E0564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4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86384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516722" y="2426818"/>
            <a:ext cx="449885" cy="449885"/>
          </a:xfrm>
          <a:prstGeom prst="roundRect">
            <a:avLst>
              <a:gd name="adj" fmla="val 16260"/>
            </a:avLst>
          </a:prstGeom>
          <a:solidFill>
            <a:srgbClr val="2F8FD8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4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467344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20226" y="2426818"/>
            <a:ext cx="449885" cy="449885"/>
          </a:xfrm>
          <a:prstGeom prst="roundRect">
            <a:avLst>
              <a:gd name="adj" fmla="val 16260"/>
            </a:avLst>
          </a:prstGeom>
          <a:solidFill>
            <a:srgbClr val="3FA96B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4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9070848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723730" y="2426818"/>
            <a:ext cx="449885" cy="449885"/>
          </a:xfrm>
          <a:prstGeom prst="roundRect">
            <a:avLst>
              <a:gd name="adj" fmla="val 16260"/>
            </a:avLst>
          </a:prstGeom>
          <a:solidFill>
            <a:srgbClr val="E0A02A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4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9674352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327234" y="2426818"/>
            <a:ext cx="449885" cy="449885"/>
          </a:xfrm>
          <a:prstGeom prst="roundRect">
            <a:avLst>
              <a:gd name="adj" fmla="val 16260"/>
            </a:avLst>
          </a:prstGeom>
          <a:solidFill>
            <a:srgbClr val="A96BD0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4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10277856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930738" y="2426818"/>
            <a:ext cx="449885" cy="449885"/>
          </a:xfrm>
          <a:prstGeom prst="roundRect">
            <a:avLst>
              <a:gd name="adj" fmla="val 16260"/>
            </a:avLst>
          </a:prstGeom>
          <a:solidFill>
            <a:srgbClr val="E07A3C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4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1088136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1534242" y="2426818"/>
            <a:ext cx="449885" cy="449885"/>
          </a:xfrm>
          <a:prstGeom prst="roundRect">
            <a:avLst>
              <a:gd name="adj" fmla="val 16260"/>
            </a:avLst>
          </a:prstGeom>
          <a:solidFill>
            <a:srgbClr val="2FB6B0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4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11484864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863840" y="31546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BFA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祝你蓋出全場最厲害的城市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機器人蓋城市 遊戲規則</dc:title>
  <dc:subject>PptxGenJS Presentation</dc:subject>
  <dc:creator>機器人蓋城市</dc:creator>
  <cp:lastModifiedBy>機器人蓋城市</cp:lastModifiedBy>
  <cp:revision>1</cp:revision>
  <dcterms:created xsi:type="dcterms:W3CDTF">2026-08-30T11:08:25Z</dcterms:created>
  <dcterms:modified xsi:type="dcterms:W3CDTF">2026-08-30T11:08:25Z</dcterms:modified>
</cp:coreProperties>
</file>